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63B"/>
          </a:solidFill>
          <a:ln>
            <a:solidFill>
              <a:srgbClr val="12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822960"/>
            <a:ext cx="109728" cy="4480560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960120"/>
            <a:ext cx="804672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ptos"/>
              </a:rPr>
              <a:t>A controlled AI software</a:t>
            </a:r>
            <a:br/>
            <a:r>
              <a:t>factory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274320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D5E2E5"/>
                </a:solidFill>
                <a:latin typeface="Aptos"/>
              </a:rPr>
              <a:t>A focused request to prove the story-to-code workflow, measure its cost, and learn where it stops being reliable.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" y="3977639"/>
            <a:ext cx="3749039" cy="960120"/>
          </a:xfrm>
          <a:prstGeom prst="round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4187952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Decision requested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4416552"/>
            <a:ext cx="3246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Azure AI Foundry access + a capped $1,000 pilot 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5806440"/>
            <a:ext cx="6035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7BEC4"/>
                </a:solidFill>
                <a:latin typeface="Aptos"/>
              </a:rPr>
              <a:t>Using VS Code GitHub Copilot as the working harness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2263B"/>
                </a:solidFill>
                <a:latin typeface="Aptos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B79"/>
                </a:solidFill>
                <a:latin typeface="Aptos"/>
              </a:rPr>
              <a:t>A small, bounded investment to replace assumptions with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062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B79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2423160" cy="1005840"/>
          </a:xfrm>
          <a:prstGeom prst="roundRect">
            <a:avLst/>
          </a:prstGeom>
          <a:solidFill>
            <a:srgbClr val="F0F5F6"/>
          </a:solidFill>
          <a:ln>
            <a:solidFill>
              <a:srgbClr val="F0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36192"/>
            <a:ext cx="209397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897B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93392"/>
            <a:ext cx="20939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79"/>
                </a:solidFill>
                <a:latin typeface="Aptos"/>
              </a:rPr>
              <a:t>Azure AI Foundry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371600"/>
            <a:ext cx="2423160" cy="1005840"/>
          </a:xfrm>
          <a:prstGeom prst="roundRect">
            <a:avLst/>
          </a:prstGeom>
          <a:solidFill>
            <a:srgbClr val="F0F5F6"/>
          </a:solidFill>
          <a:ln>
            <a:solidFill>
              <a:srgbClr val="F0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2152" y="1536192"/>
            <a:ext cx="209397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ED8134"/>
                </a:solidFill>
                <a:latin typeface="Aptos"/>
              </a:rPr>
              <a:t>$1,000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1993392"/>
            <a:ext cx="20939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79"/>
                </a:solidFill>
                <a:latin typeface="Aptos"/>
              </a:rPr>
              <a:t>Capped pilot budget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371600"/>
            <a:ext cx="2423160" cy="1005840"/>
          </a:xfrm>
          <a:prstGeom prst="roundRect">
            <a:avLst/>
          </a:prstGeom>
          <a:solidFill>
            <a:srgbClr val="F0F5F6"/>
          </a:solidFill>
          <a:ln>
            <a:solidFill>
              <a:srgbClr val="F0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1536192"/>
            <a:ext cx="209397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897B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1993392"/>
            <a:ext cx="20939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79"/>
                </a:solidFill>
                <a:latin typeface="Aptos"/>
              </a:rPr>
              <a:t>Initial benchmark feature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1371600"/>
            <a:ext cx="2423160" cy="1005840"/>
          </a:xfrm>
          <a:prstGeom prst="roundRect">
            <a:avLst/>
          </a:prstGeom>
          <a:solidFill>
            <a:srgbClr val="F0F5F6"/>
          </a:solidFill>
          <a:ln>
            <a:solidFill>
              <a:srgbClr val="F0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7112" y="1536192"/>
            <a:ext cx="209397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897B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2" y="1993392"/>
            <a:ext cx="20939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79"/>
                </a:solidFill>
                <a:latin typeface="Aptos"/>
              </a:rPr>
              <a:t>Decision report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834640"/>
            <a:ext cx="342900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CD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834640"/>
            <a:ext cx="73152" cy="2606040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3017520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63B"/>
                </a:solidFill>
                <a:latin typeface="Aptos"/>
              </a:rPr>
              <a:t>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401568"/>
            <a:ext cx="2990088" cy="1892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5313D"/>
                </a:solidFill>
                <a:latin typeface="Aptos"/>
              </a:rPr>
              <a:t>Provision approved Azure AI Foundry deployments for controlled inference experiments. We need usage and token data from the provider, not only a Copilot model selector.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2834640"/>
            <a:ext cx="342900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CD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70832" y="2834640"/>
            <a:ext cx="73152" cy="2606040"/>
          </a:xfrm>
          <a:prstGeom prst="rect">
            <a:avLst/>
          </a:prstGeom>
          <a:solidFill>
            <a:srgbClr val="ED8134"/>
          </a:solidFill>
          <a:ln>
            <a:solidFill>
              <a:srgbClr val="ED8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08576" y="3017520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63B"/>
                </a:solidFill>
                <a:latin typeface="Aptos"/>
              </a:rPr>
              <a:t>Funding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6" y="3401568"/>
            <a:ext cx="2990088" cy="1892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5313D"/>
                </a:solidFill>
                <a:latin typeface="Aptos"/>
              </a:rPr>
              <a:t>Authorize no more than $1,000 of inference spend. Spend is tracked per agent, story, retry, and model. We will stop before the cap.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1583" y="2834640"/>
            <a:ext cx="342900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CD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01583" y="2834640"/>
            <a:ext cx="73152" cy="2606040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3017520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63B"/>
                </a:solidFill>
                <a:latin typeface="Aptos"/>
              </a:rPr>
              <a:t>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3401568"/>
            <a:ext cx="2990088" cy="1892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5313D"/>
                </a:solidFill>
                <a:latin typeface="Aptos"/>
              </a:rPr>
              <a:t>Sponsor a short pilot so the team can run the experiment, use the benchmark app, and return with a recommendation rather than a theoretical design.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446520"/>
            <a:ext cx="11018520" cy="9144"/>
          </a:xfrm>
          <a:prstGeom prst="rect">
            <a:avLst/>
          </a:prstGeom>
          <a:solidFill>
            <a:srgbClr val="CDD8DC"/>
          </a:solidFill>
          <a:ln>
            <a:solidFill>
              <a:srgbClr val="CD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B79"/>
                </a:solidFill>
                <a:latin typeface="Aptos"/>
              </a:rPr>
              <a:t>AI Software Factory | Controlled experiment proposal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2263B"/>
                </a:solidFill>
                <a:latin typeface="Aptos"/>
              </a:rPr>
              <a:t>Why this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B79"/>
                </a:solidFill>
                <a:latin typeface="Aptos"/>
              </a:rPr>
              <a:t>The question is not whether a model can generate code once. It is whether a controlled workflow can deliver repeatable, reviewable stories.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062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B79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5B6B79"/>
                </a:solidFill>
                <a:latin typeface="Aptos"/>
              </a:rP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4754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2263B"/>
                </a:solidFill>
                <a:latin typeface="Aptos"/>
              </a:rPr>
              <a:t>We have a factory design and agent roles, but no evidence-backed answer to these operational questions.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063240"/>
            <a:ext cx="48463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5313D"/>
                </a:solidFill>
                <a:latin typeface="Aptos"/>
              </a:defRPr>
            </a:pPr>
            <a:r>
              <a:t>Which model and settings work best for each agent?</a:t>
            </a:r>
          </a:p>
          <a:p>
            <a:pPr>
              <a:spcAft>
                <a:spcPts val="800"/>
              </a:spcAft>
              <a:defRPr sz="1600">
                <a:solidFill>
                  <a:srgbClr val="25313D"/>
                </a:solidFill>
                <a:latin typeface="Aptos"/>
              </a:defRPr>
            </a:pPr>
            <a:r>
              <a:t>What does a completed story actually cost in AI inference?</a:t>
            </a:r>
          </a:p>
          <a:p>
            <a:pPr>
              <a:spcAft>
                <a:spcPts val="800"/>
              </a:spcAft>
              <a:defRPr sz="1600">
                <a:solidFill>
                  <a:srgbClr val="25313D"/>
                </a:solidFill>
                <a:latin typeface="Aptos"/>
              </a:defRPr>
            </a:pPr>
            <a:r>
              <a:t>How much complexity can a story carry before quality or consistency falls?</a:t>
            </a:r>
          </a:p>
          <a:p>
            <a:pPr>
              <a:spcAft>
                <a:spcPts val="800"/>
              </a:spcAft>
              <a:defRPr sz="1600">
                <a:solidFill>
                  <a:srgbClr val="25313D"/>
                </a:solidFill>
                <a:latin typeface="Aptos"/>
              </a:defRPr>
            </a:pPr>
            <a:r>
              <a:t>Where should we improve prompts, context, or repair loops?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25880"/>
            <a:ext cx="5257800" cy="4434840"/>
          </a:xfrm>
          <a:prstGeom prst="roundRect">
            <a:avLst/>
          </a:prstGeom>
          <a:solidFill>
            <a:srgbClr val="F0F5F6"/>
          </a:solidFill>
          <a:ln>
            <a:solidFill>
              <a:srgbClr val="F0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719072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263B"/>
                </a:solidFill>
                <a:latin typeface="Aptos"/>
              </a:rPr>
              <a:t>The pilot changes the conversation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51460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B6B79"/>
                </a:solidFill>
                <a:latin typeface="Aptos"/>
              </a:rPr>
              <a:t>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78892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5B6B79"/>
                </a:solidFill>
                <a:latin typeface="Aptos"/>
              </a:rPr>
              <a:t>We think this could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365760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931920"/>
            <a:ext cx="44348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00897B"/>
                </a:solidFill>
                <a:latin typeface="Aptos"/>
              </a:rPr>
              <a:t>For these story types, this model profile delivers at this cost and reliability.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46520"/>
            <a:ext cx="11018520" cy="9144"/>
          </a:xfrm>
          <a:prstGeom prst="rect">
            <a:avLst/>
          </a:prstGeom>
          <a:solidFill>
            <a:srgbClr val="CDD8DC"/>
          </a:solidFill>
          <a:ln>
            <a:solidFill>
              <a:srgbClr val="CD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B79"/>
                </a:solidFill>
                <a:latin typeface="Aptos"/>
              </a:rPr>
              <a:t>AI Software Factory | Controlled experiment proposal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2263B"/>
                </a:solidFill>
                <a:latin typeface="Aptos"/>
              </a:rPr>
              <a:t>Start deliberately small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B79"/>
                </a:solidFill>
                <a:latin typeface="Aptos"/>
              </a:rPr>
              <a:t>One uncomplicated story establishes a baseline for quality, cost, and repeatability.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062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B79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25880"/>
            <a:ext cx="49377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D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Level 1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3931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2263B"/>
                </a:solidFill>
                <a:latin typeface="Aptos"/>
              </a:rPr>
              <a:t>See a list of</a:t>
            </a:r>
            <a:br/>
            <a:r>
              <a:t>uploaded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17520"/>
            <a:ext cx="39776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5313D"/>
                </a:solidFill>
                <a:latin typeface="Aptos"/>
              </a:rPr>
              <a:t>Add a static table below the current upload form. It lists sample files with filename, content type, size, and upload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6908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B6B79"/>
                </a:solidFill>
                <a:latin typeface="Aptos"/>
              </a:rPr>
              <a:t>Boundaries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70832"/>
            <a:ext cx="4023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5313D"/>
                </a:solidFill>
                <a:latin typeface="Aptos"/>
              </a:defRPr>
            </a:pPr>
            <a:r>
              <a:t>No backend or database change</a:t>
            </a:r>
          </a:p>
          <a:p>
            <a:pPr>
              <a:spcAft>
                <a:spcPts val="400"/>
              </a:spcAft>
              <a:defRPr sz="1400">
                <a:solidFill>
                  <a:srgbClr val="25313D"/>
                </a:solidFill>
                <a:latin typeface="Aptos"/>
              </a:defRPr>
            </a:pPr>
            <a:r>
              <a:t>No new dependency</a:t>
            </a:r>
          </a:p>
          <a:p>
            <a:pPr>
              <a:spcAft>
                <a:spcPts val="400"/>
              </a:spcAft>
              <a:defRPr sz="1400">
                <a:solidFill>
                  <a:srgbClr val="25313D"/>
                </a:solidFill>
                <a:latin typeface="Aptos"/>
              </a:defRPr>
            </a:pPr>
            <a:r>
              <a:t>Existing upload behavior must remain intact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25880"/>
            <a:ext cx="5349240" cy="4526280"/>
          </a:xfrm>
          <a:prstGeom prst="roundRect">
            <a:avLst/>
          </a:prstGeom>
          <a:solidFill>
            <a:srgbClr val="F0F5F6"/>
          </a:solidFill>
          <a:ln>
            <a:solidFill>
              <a:srgbClr val="F0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64208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2263B"/>
                </a:solidFill>
                <a:latin typeface="Aptos"/>
              </a:rPr>
              <a:t>What this proves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3952" y="2148840"/>
            <a:ext cx="47091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CD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73952" y="2148840"/>
            <a:ext cx="73152" cy="841248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11696" y="2331720"/>
            <a:ext cx="4297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63B"/>
                </a:solidFill>
                <a:latin typeface="Aptos"/>
              </a:rPr>
              <a:t>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1696" y="2715768"/>
            <a:ext cx="4270248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5313D"/>
                </a:solidFill>
                <a:latin typeface="Aptos"/>
              </a:rPr>
              <a:t>Can the agents turn precise acceptance criteria into a testable, executable plan?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73952" y="3172968"/>
            <a:ext cx="47091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CD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73952" y="3172968"/>
            <a:ext cx="73152" cy="841248"/>
          </a:xfrm>
          <a:prstGeom prst="rect">
            <a:avLst/>
          </a:prstGeom>
          <a:solidFill>
            <a:srgbClr val="ED8134"/>
          </a:solidFill>
          <a:ln>
            <a:solidFill>
              <a:srgbClr val="ED8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11696" y="3355848"/>
            <a:ext cx="4297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63B"/>
                </a:solidFill>
                <a:latin typeface="Aptos"/>
              </a:rPr>
              <a:t>Implementation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1696" y="3739896"/>
            <a:ext cx="4270248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5313D"/>
                </a:solidFill>
                <a:latin typeface="Aptos"/>
              </a:rPr>
              <a:t>Can the Coder make a focused React and CSS change without scope creep?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3952" y="4197096"/>
            <a:ext cx="47091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CD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73952" y="4197096"/>
            <a:ext cx="73152" cy="841248"/>
          </a:xfrm>
          <a:prstGeom prst="rect">
            <a:avLst/>
          </a:prstGeom>
          <a:solidFill>
            <a:srgbClr val="25965B"/>
          </a:solidFill>
          <a:ln>
            <a:solidFill>
              <a:srgbClr val="25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11696" y="4379976"/>
            <a:ext cx="4297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63B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1696" y="4764024"/>
            <a:ext cx="4270248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5313D"/>
                </a:solidFill>
                <a:latin typeface="Aptos"/>
              </a:rPr>
              <a:t>Can reviews and tests catch regressions and provide trustworthy evidence?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446520"/>
            <a:ext cx="11018520" cy="9144"/>
          </a:xfrm>
          <a:prstGeom prst="rect">
            <a:avLst/>
          </a:prstGeom>
          <a:solidFill>
            <a:srgbClr val="CDD8DC"/>
          </a:solidFill>
          <a:ln>
            <a:solidFill>
              <a:srgbClr val="CD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B79"/>
                </a:solidFill>
                <a:latin typeface="Aptos"/>
              </a:rPr>
              <a:t>AI Software Factory | Controlled experiment proposal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2263B"/>
                </a:solidFill>
                <a:latin typeface="Aptos"/>
              </a:rPr>
              <a:t>Increase complexity one capability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B79"/>
                </a:solidFill>
                <a:latin typeface="Aptos"/>
              </a:rPr>
              <a:t>Each row is a separate story. We only advance after recording the previous level's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062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B79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120640" cy="713232"/>
          </a:xfrm>
          <a:prstGeom prst="roundRect">
            <a:avLst/>
          </a:prstGeom>
          <a:solidFill>
            <a:srgbClr val="E4F4F1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5528" y="1472184"/>
            <a:ext cx="420624" cy="420624"/>
          </a:xfrm>
          <a:prstGeom prst="round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27048"/>
            <a:ext cx="4206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453896"/>
            <a:ext cx="43159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263B"/>
                </a:solidFill>
                <a:latin typeface="Aptos"/>
              </a:rPr>
              <a:t>Static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1709928"/>
            <a:ext cx="43159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B79"/>
                </a:solidFill>
                <a:latin typeface="Aptos"/>
              </a:rPr>
              <a:t>Presentation 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120640" cy="713232"/>
          </a:xfrm>
          <a:prstGeom prst="roundRect">
            <a:avLst/>
          </a:prstGeom>
          <a:solidFill>
            <a:srgbClr val="F0F5F6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73368" y="1472184"/>
            <a:ext cx="420624" cy="420624"/>
          </a:xfrm>
          <a:prstGeom prst="round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527048"/>
            <a:ext cx="4206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2008" y="1453896"/>
            <a:ext cx="43159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263B"/>
                </a:solidFill>
                <a:latin typeface="Aptos"/>
              </a:rPr>
              <a:t>API-backed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1709928"/>
            <a:ext cx="43159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B79"/>
                </a:solidFill>
                <a:latin typeface="Aptos"/>
              </a:rPr>
              <a:t>Loading, empty, error states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404872"/>
            <a:ext cx="5120640" cy="713232"/>
          </a:xfrm>
          <a:prstGeom prst="roundRect">
            <a:avLst/>
          </a:prstGeom>
          <a:solidFill>
            <a:srgbClr val="F0F5F6"/>
          </a:solidFill>
          <a:ln>
            <a:solidFill>
              <a:srgbClr val="ED8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5528" y="2551176"/>
            <a:ext cx="420624" cy="420624"/>
          </a:xfrm>
          <a:prstGeom prst="roundRect">
            <a:avLst/>
          </a:prstGeom>
          <a:solidFill>
            <a:srgbClr val="ED8134"/>
          </a:solidFill>
          <a:ln>
            <a:solidFill>
              <a:srgbClr val="ED8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2606040"/>
            <a:ext cx="4206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2532888"/>
            <a:ext cx="43159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263B"/>
                </a:solidFill>
                <a:latin typeface="Aptos"/>
              </a:rPr>
              <a:t>Delete a 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2788920"/>
            <a:ext cx="43159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B79"/>
                </a:solidFill>
                <a:latin typeface="Aptos"/>
              </a:rPr>
              <a:t>API + database/blob cleanup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404872"/>
            <a:ext cx="5120640" cy="713232"/>
          </a:xfrm>
          <a:prstGeom prst="roundRect">
            <a:avLst/>
          </a:prstGeom>
          <a:solidFill>
            <a:srgbClr val="F0F5F6"/>
          </a:solidFill>
          <a:ln>
            <a:solidFill>
              <a:srgbClr val="ED8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73368" y="2551176"/>
            <a:ext cx="420624" cy="420624"/>
          </a:xfrm>
          <a:prstGeom prst="roundRect">
            <a:avLst/>
          </a:prstGeom>
          <a:solidFill>
            <a:srgbClr val="ED8134"/>
          </a:solidFill>
          <a:ln>
            <a:solidFill>
              <a:srgbClr val="ED8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2606040"/>
            <a:ext cx="4206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8" y="2532888"/>
            <a:ext cx="43159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263B"/>
                </a:solidFill>
                <a:latin typeface="Aptos"/>
              </a:rPr>
              <a:t>Sort and filter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2008" y="2788920"/>
            <a:ext cx="43159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B79"/>
                </a:solidFill>
                <a:latin typeface="Aptos"/>
              </a:rPr>
              <a:t>Interaction state and tests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483863"/>
            <a:ext cx="5120640" cy="713232"/>
          </a:xfrm>
          <a:prstGeom prst="roundRect">
            <a:avLst/>
          </a:prstGeom>
          <a:solidFill>
            <a:srgbClr val="F0F5F6"/>
          </a:solidFill>
          <a:ln>
            <a:solidFill>
              <a:srgbClr val="12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5528" y="3630167"/>
            <a:ext cx="420624" cy="420624"/>
          </a:xfrm>
          <a:prstGeom prst="roundRect">
            <a:avLst/>
          </a:prstGeom>
          <a:solidFill>
            <a:srgbClr val="12263B"/>
          </a:solidFill>
          <a:ln>
            <a:solidFill>
              <a:srgbClr val="12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3685031"/>
            <a:ext cx="4206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44168" y="3611879"/>
            <a:ext cx="43159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263B"/>
                </a:solidFill>
                <a:latin typeface="Aptos"/>
              </a:rPr>
              <a:t>Pagination / large 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4168" y="3867911"/>
            <a:ext cx="43159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B79"/>
                </a:solidFill>
                <a:latin typeface="Aptos"/>
              </a:rPr>
              <a:t>Query contract and performance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483863"/>
            <a:ext cx="5120640" cy="713232"/>
          </a:xfrm>
          <a:prstGeom prst="roundRect">
            <a:avLst/>
          </a:prstGeom>
          <a:solidFill>
            <a:srgbClr val="F0F5F6"/>
          </a:solidFill>
          <a:ln>
            <a:solidFill>
              <a:srgbClr val="12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73368" y="3630167"/>
            <a:ext cx="420624" cy="420624"/>
          </a:xfrm>
          <a:prstGeom prst="roundRect">
            <a:avLst/>
          </a:prstGeom>
          <a:solidFill>
            <a:srgbClr val="12263B"/>
          </a:solidFill>
          <a:ln>
            <a:solidFill>
              <a:srgbClr val="12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3685031"/>
            <a:ext cx="4206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22008" y="3611879"/>
            <a:ext cx="43159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263B"/>
                </a:solidFill>
                <a:latin typeface="Aptos"/>
              </a:rPr>
              <a:t>Combined grid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2008" y="3867911"/>
            <a:ext cx="43159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B79"/>
                </a:solidFill>
                <a:latin typeface="Aptos"/>
              </a:rPr>
              <a:t>All capabilities together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562856"/>
            <a:ext cx="5120640" cy="713232"/>
          </a:xfrm>
          <a:prstGeom prst="roundRect">
            <a:avLst/>
          </a:prstGeom>
          <a:solidFill>
            <a:srgbClr val="F0F5F6"/>
          </a:solidFill>
          <a:ln>
            <a:solidFill>
              <a:srgbClr val="25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95528" y="4709160"/>
            <a:ext cx="420624" cy="420624"/>
          </a:xfrm>
          <a:prstGeom prst="roundRect">
            <a:avLst/>
          </a:prstGeom>
          <a:solidFill>
            <a:srgbClr val="25965B"/>
          </a:solidFill>
          <a:ln>
            <a:solidFill>
              <a:srgbClr val="25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" y="4764024"/>
            <a:ext cx="4206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4690872"/>
            <a:ext cx="43159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263B"/>
                </a:solidFill>
                <a:latin typeface="Aptos"/>
              </a:rPr>
              <a:t>End-to-end journey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44168" y="4946904"/>
            <a:ext cx="43159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B79"/>
                </a:solidFill>
                <a:latin typeface="Aptos"/>
              </a:rPr>
              <a:t>Multi-story feature verification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80644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B79"/>
                </a:solidFill>
                <a:latin typeface="Aptos"/>
              </a:rPr>
              <a:t>We are looking for the first level where failure, repair, cost, or elapsed time becomes repeatably unacceptable.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6446520"/>
            <a:ext cx="11018520" cy="9144"/>
          </a:xfrm>
          <a:prstGeom prst="rect">
            <a:avLst/>
          </a:prstGeom>
          <a:solidFill>
            <a:srgbClr val="CDD8DC"/>
          </a:solidFill>
          <a:ln>
            <a:solidFill>
              <a:srgbClr val="CD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6510528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B79"/>
                </a:solidFill>
                <a:latin typeface="Aptos"/>
              </a:rPr>
              <a:t>AI Software Factory | Controlled experiment proposal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2263B"/>
                </a:solidFill>
                <a:latin typeface="Aptos"/>
              </a:rPr>
              <a:t>How we will run and measure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B79"/>
                </a:solidFill>
                <a:latin typeface="Aptos"/>
              </a:rPr>
              <a:t>Simple control rules make the results useful for tuning rather than anecdotes.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062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B79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89888"/>
            <a:ext cx="1554480" cy="640080"/>
          </a:xfrm>
          <a:prstGeom prst="roundRect">
            <a:avLst/>
          </a:prstGeom>
          <a:solidFill>
            <a:srgbClr val="F0F5F6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00200"/>
            <a:ext cx="14081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2263B"/>
                </a:solidFill>
                <a:latin typeface="Aptos"/>
              </a:rPr>
              <a:t>Test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7712" y="1600200"/>
            <a:ext cx="182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897B"/>
                </a:solidFill>
                <a:latin typeface="Aptos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389888"/>
            <a:ext cx="1554480" cy="640080"/>
          </a:xfrm>
          <a:prstGeom prst="roundRect">
            <a:avLst/>
          </a:prstGeom>
          <a:solidFill>
            <a:srgbClr val="F0F5F6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87752" y="1600200"/>
            <a:ext cx="14081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2263B"/>
                </a:solidFill>
                <a:latin typeface="Aptos"/>
              </a:rPr>
              <a:t>Implementation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2232" y="1600200"/>
            <a:ext cx="182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897B"/>
                </a:solidFill>
                <a:latin typeface="Aptos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89888"/>
            <a:ext cx="1554480" cy="640080"/>
          </a:xfrm>
          <a:prstGeom prst="roundRect">
            <a:avLst/>
          </a:prstGeom>
          <a:solidFill>
            <a:srgbClr val="F0F5F6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600200"/>
            <a:ext cx="14081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2263B"/>
                </a:solidFill>
                <a:latin typeface="Aptos"/>
              </a:rPr>
              <a:t>Plan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6752" y="1600200"/>
            <a:ext cx="182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897B"/>
                </a:solidFill>
                <a:latin typeface="Aptos"/>
              </a:rP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389888"/>
            <a:ext cx="1554480" cy="640080"/>
          </a:xfrm>
          <a:prstGeom prst="roundRect">
            <a:avLst/>
          </a:prstGeom>
          <a:solidFill>
            <a:srgbClr val="F0F5F6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600200"/>
            <a:ext cx="14081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2263B"/>
                </a:solidFill>
                <a:latin typeface="Aptos"/>
              </a:rPr>
              <a:t>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2" y="1600200"/>
            <a:ext cx="182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897B"/>
                </a:solidFill>
                <a:latin typeface="Aptos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59" y="1389888"/>
            <a:ext cx="1554480" cy="640080"/>
          </a:xfrm>
          <a:prstGeom prst="roundRect">
            <a:avLst/>
          </a:prstGeom>
          <a:solidFill>
            <a:srgbClr val="F0F5F6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1" y="1600200"/>
            <a:ext cx="14081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2263B"/>
                </a:solidFill>
                <a:latin typeface="Aptos"/>
              </a:rPr>
              <a:t>Code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65791" y="1600200"/>
            <a:ext cx="182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897B"/>
                </a:solidFill>
                <a:latin typeface="Aptos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12680" y="1389888"/>
            <a:ext cx="1554480" cy="640080"/>
          </a:xfrm>
          <a:prstGeom prst="roundRect">
            <a:avLst/>
          </a:prstGeom>
          <a:solidFill>
            <a:srgbClr val="F0F5F6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5832" y="1600200"/>
            <a:ext cx="14081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2263B"/>
                </a:solidFill>
                <a:latin typeface="Aptos"/>
              </a:rPr>
              <a:t>Test execution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2743200"/>
            <a:ext cx="3429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CD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2743200"/>
            <a:ext cx="73152" cy="2240280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" y="2926080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63B"/>
                </a:solidFill>
                <a:latin typeface="Aptos"/>
              </a:rPr>
              <a:t>Repeatability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" y="3310128"/>
            <a:ext cx="2990088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5313D"/>
                </a:solidFill>
                <a:latin typeface="Aptos"/>
              </a:rPr>
              <a:t>Run each level three times from the same baseline commit in clean worktrees. Success once is a demonstration; repeatability is the result.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2743200"/>
            <a:ext cx="3429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CD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2743200"/>
            <a:ext cx="73152" cy="2240280"/>
          </a:xfrm>
          <a:prstGeom prst="rect">
            <a:avLst/>
          </a:prstGeom>
          <a:solidFill>
            <a:srgbClr val="ED8134"/>
          </a:solidFill>
          <a:ln>
            <a:solidFill>
              <a:srgbClr val="ED8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26864" y="2926080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63B"/>
                </a:solidFill>
                <a:latin typeface="Aptos"/>
              </a:rPr>
              <a:t>Controls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6864" y="3310128"/>
            <a:ext cx="2990088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5313D"/>
                </a:solidFill>
                <a:latin typeface="Aptos"/>
              </a:rPr>
              <a:t>Change one thing at a time when tuning: prompt, relevant codebase context, model/deployment, inference settings, or tool/repair policy.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2743200"/>
            <a:ext cx="3429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CD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2440" y="2743200"/>
            <a:ext cx="73152" cy="2240280"/>
          </a:xfrm>
          <a:prstGeom prst="rect">
            <a:avLst/>
          </a:prstGeom>
          <a:solidFill>
            <a:srgbClr val="25965B"/>
          </a:solidFill>
          <a:ln>
            <a:solidFill>
              <a:srgbClr val="25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2926080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63B"/>
                </a:solidFill>
                <a:latin typeface="Aptos"/>
              </a:rPr>
              <a:t>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0184" y="3310128"/>
            <a:ext cx="2990088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5313D"/>
                </a:solidFill>
                <a:latin typeface="Aptos"/>
              </a:rPr>
              <a:t>Record model/settings, tokens, cost, duration, generated artifacts, diff, reviews, test output, repair loops, and final decision.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53212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B6B79"/>
                </a:solidFill>
                <a:latin typeface="Aptos"/>
              </a:rPr>
              <a:t>The reviewer, test commands, environment, and acceptance criteria stay fixed while a generator is being compared.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446520"/>
            <a:ext cx="11018520" cy="9144"/>
          </a:xfrm>
          <a:prstGeom prst="rect">
            <a:avLst/>
          </a:prstGeom>
          <a:solidFill>
            <a:srgbClr val="CDD8DC"/>
          </a:solidFill>
          <a:ln>
            <a:solidFill>
              <a:srgbClr val="CD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B79"/>
                </a:solidFill>
                <a:latin typeface="Aptos"/>
              </a:rPr>
              <a:t>AI Software Factory | Controlled experiment proposal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2263B"/>
                </a:solidFill>
                <a:latin typeface="Aptos"/>
              </a:rPr>
              <a:t>A modest, capped budget with visible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B79"/>
                </a:solidFill>
                <a:latin typeface="Aptos"/>
              </a:rPr>
              <a:t>The purpose of the budget is learning, not uncontrolled model consumption.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062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B79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794760" cy="4526280"/>
          </a:xfrm>
          <a:prstGeom prst="roundRect">
            <a:avLst/>
          </a:prstGeom>
          <a:solidFill>
            <a:srgbClr val="12263B"/>
          </a:solidFill>
          <a:ln>
            <a:solidFill>
              <a:srgbClr val="12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874519"/>
            <a:ext cx="3063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Aptos"/>
              </a:rPr>
              <a:t>$1,000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514600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CCE0E4"/>
                </a:solidFill>
                <a:latin typeface="Aptos"/>
              </a:rPr>
              <a:t>Maximum inference spend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1353312" y="3154680"/>
            <a:ext cx="2542032" cy="73152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493008"/>
            <a:ext cx="3017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We report actual cost per agent, run, repair loop, and completed story.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CCE0E4"/>
                </a:solidFill>
                <a:latin typeface="Aptos"/>
              </a:rPr>
              <a:t>Spend stops at the cap.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4173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2263B"/>
                </a:solidFill>
                <a:latin typeface="Aptos"/>
              </a:rPr>
              <a:t>Proposed use of the cap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057400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5313D"/>
                </a:solidFill>
                <a:latin typeface="Aptos"/>
              </a:rPr>
              <a:t>Baseline and ladder runs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205740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>
                <a:solidFill>
                  <a:srgbClr val="00897B"/>
                </a:solidFill>
                <a:latin typeface="Aptos"/>
              </a:rPr>
              <a:t>$600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2441448"/>
            <a:ext cx="6080760" cy="164592"/>
          </a:xfrm>
          <a:prstGeom prst="roundRect">
            <a:avLst/>
          </a:prstGeom>
          <a:solidFill>
            <a:srgbClr val="CDD8DC"/>
          </a:solidFill>
          <a:ln>
            <a:solidFill>
              <a:srgbClr val="CD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74920" y="2441448"/>
            <a:ext cx="3648456" cy="164592"/>
          </a:xfrm>
          <a:prstGeom prst="round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3081528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5313D"/>
                </a:solidFill>
                <a:latin typeface="Aptos"/>
              </a:rPr>
              <a:t>Prompt/model/context comparisons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78440" y="3081528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>
                <a:solidFill>
                  <a:srgbClr val="ED8134"/>
                </a:solidFill>
                <a:latin typeface="Aptos"/>
              </a:rPr>
              <a:t>$300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3465576"/>
            <a:ext cx="6080760" cy="164592"/>
          </a:xfrm>
          <a:prstGeom prst="roundRect">
            <a:avLst/>
          </a:prstGeom>
          <a:solidFill>
            <a:srgbClr val="CDD8DC"/>
          </a:solidFill>
          <a:ln>
            <a:solidFill>
              <a:srgbClr val="CD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74920" y="3465576"/>
            <a:ext cx="1824228" cy="164592"/>
          </a:xfrm>
          <a:prstGeom prst="roundRect">
            <a:avLst/>
          </a:prstGeom>
          <a:solidFill>
            <a:srgbClr val="ED8134"/>
          </a:solidFill>
          <a:ln>
            <a:solidFill>
              <a:srgbClr val="ED8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4105656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5313D"/>
                </a:solidFill>
                <a:latin typeface="Aptos"/>
              </a:rPr>
              <a:t>Contingency for repeat runs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78440" y="4105656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>
                <a:solidFill>
                  <a:srgbClr val="25965B"/>
                </a:solidFill>
                <a:latin typeface="Aptos"/>
              </a:rPr>
              <a:t>$100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74920" y="4489704"/>
            <a:ext cx="6080760" cy="164592"/>
          </a:xfrm>
          <a:prstGeom prst="roundRect">
            <a:avLst/>
          </a:prstGeom>
          <a:solidFill>
            <a:srgbClr val="CDD8DC"/>
          </a:solidFill>
          <a:ln>
            <a:solidFill>
              <a:srgbClr val="CD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74920" y="4489704"/>
            <a:ext cx="608076" cy="164592"/>
          </a:xfrm>
          <a:prstGeom prst="roundRect">
            <a:avLst/>
          </a:prstGeom>
          <a:solidFill>
            <a:srgbClr val="25965B"/>
          </a:solidFill>
          <a:ln>
            <a:solidFill>
              <a:srgbClr val="25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4920" y="5257800"/>
            <a:ext cx="5989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B79"/>
                </a:solidFill>
                <a:latin typeface="Aptos"/>
              </a:rPr>
              <a:t>The allocation is a planning guide. Every dollar is tied to an experiment run and visible in the final report.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446520"/>
            <a:ext cx="11018520" cy="9144"/>
          </a:xfrm>
          <a:prstGeom prst="rect">
            <a:avLst/>
          </a:prstGeom>
          <a:solidFill>
            <a:srgbClr val="CDD8DC"/>
          </a:solidFill>
          <a:ln>
            <a:solidFill>
              <a:srgbClr val="CD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B79"/>
                </a:solidFill>
                <a:latin typeface="Aptos"/>
              </a:rPr>
              <a:t>AI Software Factory | Controlled experiment proposal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2263B"/>
                </a:solidFill>
                <a:latin typeface="Aptos"/>
              </a:rPr>
              <a:t>What we will return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B79"/>
                </a:solidFill>
                <a:latin typeface="Aptos"/>
              </a:rPr>
              <a:t>A decision-ready factory profile, not a generic claim that AI can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062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B79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53312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D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53312"/>
            <a:ext cx="73152" cy="1828800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536192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63B"/>
                </a:solidFill>
                <a:latin typeface="Aptos"/>
              </a:rPr>
              <a:t>1. Supported story boundary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1920240"/>
            <a:ext cx="2990088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5313D"/>
                </a:solidFill>
                <a:latin typeface="Aptos"/>
              </a:rPr>
              <a:t>The highest complexity level the factory delivers reliably, plus the failure mode when it exceeds that level.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53312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D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53312"/>
            <a:ext cx="73152" cy="1828800"/>
          </a:xfrm>
          <a:prstGeom prst="rect">
            <a:avLst/>
          </a:prstGeom>
          <a:solidFill>
            <a:srgbClr val="ED8134"/>
          </a:solidFill>
          <a:ln>
            <a:solidFill>
              <a:srgbClr val="ED8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536192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63B"/>
                </a:solidFill>
                <a:latin typeface="Aptos"/>
              </a:rPr>
              <a:t>2. Per-agent model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1920240"/>
            <a:ext cx="2990088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5313D"/>
                </a:solidFill>
                <a:latin typeface="Aptos"/>
              </a:rPr>
              <a:t>Recommended Foundry model/deployment, settings, prompts, and context for the tested agents.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53312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D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353312"/>
            <a:ext cx="73152" cy="1828800"/>
          </a:xfrm>
          <a:prstGeom prst="rect">
            <a:avLst/>
          </a:prstGeom>
          <a:solidFill>
            <a:srgbClr val="25965B"/>
          </a:solidFill>
          <a:ln>
            <a:solidFill>
              <a:srgbClr val="25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1536192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63B"/>
                </a:solidFill>
                <a:latin typeface="Aptos"/>
              </a:rPr>
              <a:t>3. Cost and reliability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1920240"/>
            <a:ext cx="2990088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5313D"/>
                </a:solidFill>
                <a:latin typeface="Aptos"/>
              </a:rPr>
              <a:t>Cost per story, retry cost, duration, approval rates, test outcomes, and known limitations.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67328"/>
            <a:ext cx="10835640" cy="1572768"/>
          </a:xfrm>
          <a:prstGeom prst="roundRect">
            <a:avLst/>
          </a:prstGeom>
          <a:solidFill>
            <a:srgbClr val="F0F5F6"/>
          </a:solidFill>
          <a:ln>
            <a:solidFill>
              <a:srgbClr val="F0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06908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897B"/>
                </a:solidFill>
                <a:latin typeface="Aptos"/>
              </a:rPr>
              <a:t>Decision requested today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62272"/>
            <a:ext cx="8046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2263B"/>
                </a:solidFill>
                <a:latin typeface="Aptos"/>
              </a:rPr>
              <a:t>Approve Foundry access and a capped $1,000 budget for the experiment.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901184"/>
            <a:ext cx="8503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B79"/>
                </a:solidFill>
                <a:latin typeface="Aptos"/>
              </a:rPr>
              <a:t>We will begin with the static uploaded-files table and report evidence before expanding the scope.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446520"/>
            <a:ext cx="11018520" cy="9144"/>
          </a:xfrm>
          <a:prstGeom prst="rect">
            <a:avLst/>
          </a:prstGeom>
          <a:solidFill>
            <a:srgbClr val="CDD8DC"/>
          </a:solidFill>
          <a:ln>
            <a:solidFill>
              <a:srgbClr val="CD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B79"/>
                </a:solidFill>
                <a:latin typeface="Aptos"/>
              </a:rPr>
              <a:t>AI Software Factory | Requested next step: approve access and pilot budget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